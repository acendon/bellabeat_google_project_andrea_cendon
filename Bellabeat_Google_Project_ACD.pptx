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layfair Display"/>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fairDisplay-regular.fntdata"/><Relationship Id="rId22" Type="http://schemas.openxmlformats.org/officeDocument/2006/relationships/font" Target="fonts/PlayfairDisplay-italic.fntdata"/><Relationship Id="rId21" Type="http://schemas.openxmlformats.org/officeDocument/2006/relationships/font" Target="fonts/PlayfairDisplay-bold.fntdata"/><Relationship Id="rId24" Type="http://schemas.openxmlformats.org/officeDocument/2006/relationships/font" Target="fonts/Lato-regular.fntdata"/><Relationship Id="rId23" Type="http://schemas.openxmlformats.org/officeDocument/2006/relationships/font" Target="fonts/PlayfairDispl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0d0a2a6a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0d0a2a6a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90d0a2a6a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90d0a2a6a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0d0a2a6a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90d0a2a6a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0d0a2a6a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0d0a2a6a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0d0a2a6a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0d0a2a6a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0d0a2a6a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0d0a2a6a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0d0a2a6a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0d0a2a6a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0d0a2a6a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0d0a2a6a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0d0a2a6a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0d0a2a6a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0d0a2a6a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0d0a2a6a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0d0a2a6ae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0d0a2a6ae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0d0a2a6a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0d0a2a6a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0d0a2a6a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90d0a2a6a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10.png"/><Relationship Id="rId7"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3"/>
          <p:cNvPicPr preferRelativeResize="0"/>
          <p:nvPr/>
        </p:nvPicPr>
        <p:blipFill rotWithShape="1">
          <a:blip r:embed="rId3">
            <a:alphaModFix/>
          </a:blip>
          <a:srcRect b="5285" l="17800" r="22763" t="0"/>
          <a:stretch/>
        </p:blipFill>
        <p:spPr>
          <a:xfrm>
            <a:off x="6708475" y="1598825"/>
            <a:ext cx="2162400" cy="3544675"/>
          </a:xfrm>
          <a:prstGeom prst="rect">
            <a:avLst/>
          </a:prstGeom>
          <a:noFill/>
          <a:ln>
            <a:noFill/>
          </a:ln>
        </p:spPr>
      </p:pic>
      <p:sp>
        <p:nvSpPr>
          <p:cNvPr id="60" name="Google Shape;60;p13"/>
          <p:cNvSpPr txBox="1"/>
          <p:nvPr>
            <p:ph type="ctrTitle"/>
          </p:nvPr>
        </p:nvSpPr>
        <p:spPr>
          <a:xfrm>
            <a:off x="3096300" y="1317325"/>
            <a:ext cx="2951400" cy="1584300"/>
          </a:xfrm>
          <a:prstGeom prst="rect">
            <a:avLst/>
          </a:prstGeom>
        </p:spPr>
        <p:txBody>
          <a:bodyPr anchorCtr="0" anchor="ctr" bIns="91425" lIns="91425" spcFirstLastPara="1" rIns="91425" wrap="square" tIns="91425">
            <a:noAutofit/>
          </a:bodyPr>
          <a:lstStyle/>
          <a:p>
            <a:pPr indent="0" lvl="0" marL="0" rtl="0" algn="ctr">
              <a:lnSpc>
                <a:spcPct val="115000"/>
              </a:lnSpc>
              <a:spcBef>
                <a:spcPts val="1200"/>
              </a:spcBef>
              <a:spcAft>
                <a:spcPts val="0"/>
              </a:spcAft>
              <a:buNone/>
            </a:pPr>
            <a:r>
              <a:rPr b="0" lang="es-419" sz="2000"/>
              <a:t>Analysis of user behavior with the device and marketing recommendations for the</a:t>
            </a:r>
            <a:r>
              <a:rPr lang="es-419" sz="2000"/>
              <a:t> company Bellabeat</a:t>
            </a:r>
            <a:endParaRPr sz="2000"/>
          </a:p>
          <a:p>
            <a:pPr indent="0" lvl="0" marL="0" rtl="0" algn="ctr">
              <a:spcBef>
                <a:spcPts val="1200"/>
              </a:spcBef>
              <a:spcAft>
                <a:spcPts val="0"/>
              </a:spcAft>
              <a:buNone/>
            </a:pPr>
            <a:r>
              <a:t/>
            </a:r>
            <a:endParaRPr sz="2000"/>
          </a:p>
        </p:txBody>
      </p:sp>
      <p:sp>
        <p:nvSpPr>
          <p:cNvPr id="61" name="Google Shape;61;p13"/>
          <p:cNvSpPr txBox="1"/>
          <p:nvPr>
            <p:ph idx="1" type="subTitle"/>
          </p:nvPr>
        </p:nvSpPr>
        <p:spPr>
          <a:xfrm>
            <a:off x="3096238" y="3366080"/>
            <a:ext cx="2951400" cy="701400"/>
          </a:xfrm>
          <a:prstGeom prst="rect">
            <a:avLst/>
          </a:prstGeom>
        </p:spPr>
        <p:txBody>
          <a:bodyPr anchorCtr="0" anchor="b" bIns="91425" lIns="91425" spcFirstLastPara="1" rIns="91425" wrap="square" tIns="91425">
            <a:normAutofit fontScale="92500"/>
          </a:bodyPr>
          <a:lstStyle/>
          <a:p>
            <a:pPr indent="0" lvl="0" marL="0" rtl="0" algn="ctr">
              <a:spcBef>
                <a:spcPts val="0"/>
              </a:spcBef>
              <a:spcAft>
                <a:spcPts val="0"/>
              </a:spcAft>
              <a:buNone/>
            </a:pPr>
            <a:r>
              <a:rPr lang="es-419" sz="1600"/>
              <a:t>Google project </a:t>
            </a:r>
            <a:endParaRPr sz="1600"/>
          </a:p>
          <a:p>
            <a:pPr indent="0" lvl="0" marL="0" rtl="0" algn="ctr">
              <a:spcBef>
                <a:spcPts val="0"/>
              </a:spcBef>
              <a:spcAft>
                <a:spcPts val="0"/>
              </a:spcAft>
              <a:buNone/>
            </a:pPr>
            <a:r>
              <a:rPr lang="es-419" sz="1600"/>
              <a:t>by Eng. Andrea Cendón Durán</a:t>
            </a:r>
            <a:endParaRPr sz="1600"/>
          </a:p>
        </p:txBody>
      </p:sp>
      <p:pic>
        <p:nvPicPr>
          <p:cNvPr id="62" name="Google Shape;62;p13"/>
          <p:cNvPicPr preferRelativeResize="0"/>
          <p:nvPr/>
        </p:nvPicPr>
        <p:blipFill>
          <a:blip r:embed="rId4">
            <a:alphaModFix/>
          </a:blip>
          <a:stretch>
            <a:fillRect/>
          </a:stretch>
        </p:blipFill>
        <p:spPr>
          <a:xfrm>
            <a:off x="56425" y="2068538"/>
            <a:ext cx="2791437" cy="30749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Business Task</a:t>
            </a:r>
            <a:endParaRPr/>
          </a:p>
        </p:txBody>
      </p:sp>
      <p:sp>
        <p:nvSpPr>
          <p:cNvPr id="68" name="Google Shape;68;p14"/>
          <p:cNvSpPr txBox="1"/>
          <p:nvPr>
            <p:ph idx="1" type="body"/>
          </p:nvPr>
        </p:nvSpPr>
        <p:spPr>
          <a:xfrm>
            <a:off x="311700" y="1276400"/>
            <a:ext cx="5033400" cy="24237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419"/>
              <a:t>Analyze the data from the company to identify user behavior patterns and factors influencing their engagement. The goal is to present the analysis results and the recommendations to the stakeholders to strengthen the marketing strategies. </a:t>
            </a:r>
            <a:endParaRPr/>
          </a:p>
        </p:txBody>
      </p:sp>
      <p:pic>
        <p:nvPicPr>
          <p:cNvPr id="69" name="Google Shape;69;p14"/>
          <p:cNvPicPr preferRelativeResize="0"/>
          <p:nvPr/>
        </p:nvPicPr>
        <p:blipFill>
          <a:blip r:embed="rId3">
            <a:alphaModFix/>
          </a:blip>
          <a:stretch>
            <a:fillRect/>
          </a:stretch>
        </p:blipFill>
        <p:spPr>
          <a:xfrm>
            <a:off x="5584250" y="729651"/>
            <a:ext cx="3193599" cy="31935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Objectives of the analysis </a:t>
            </a:r>
            <a:endParaRPr/>
          </a:p>
        </p:txBody>
      </p:sp>
      <p:sp>
        <p:nvSpPr>
          <p:cNvPr id="75" name="Google Shape;75;p15"/>
          <p:cNvSpPr txBox="1"/>
          <p:nvPr>
            <p:ph idx="1" type="body"/>
          </p:nvPr>
        </p:nvSpPr>
        <p:spPr>
          <a:xfrm>
            <a:off x="224925" y="1545750"/>
            <a:ext cx="4041900" cy="2052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Identify trends among users. </a:t>
            </a:r>
            <a:endParaRPr/>
          </a:p>
          <a:p>
            <a:pPr indent="-342900" lvl="0" marL="457200" rtl="0" algn="l">
              <a:spcBef>
                <a:spcPts val="0"/>
              </a:spcBef>
              <a:spcAft>
                <a:spcPts val="0"/>
              </a:spcAft>
              <a:buSzPts val="1800"/>
              <a:buChar char="●"/>
            </a:pPr>
            <a:r>
              <a:rPr lang="es-419"/>
              <a:t>Determine features or sections that promote participation. </a:t>
            </a:r>
            <a:endParaRPr/>
          </a:p>
          <a:p>
            <a:pPr indent="-342900" lvl="0" marL="457200" rtl="0" algn="l">
              <a:spcBef>
                <a:spcPts val="0"/>
              </a:spcBef>
              <a:spcAft>
                <a:spcPts val="0"/>
              </a:spcAft>
              <a:buSzPts val="1800"/>
              <a:buChar char="●"/>
            </a:pPr>
            <a:r>
              <a:rPr lang="es-419"/>
              <a:t> Provide data-driven recommendations for marketing strategies. </a:t>
            </a:r>
            <a:endParaRPr/>
          </a:p>
        </p:txBody>
      </p:sp>
      <p:pic>
        <p:nvPicPr>
          <p:cNvPr id="76" name="Google Shape;76;p15"/>
          <p:cNvPicPr preferRelativeResize="0"/>
          <p:nvPr/>
        </p:nvPicPr>
        <p:blipFill>
          <a:blip r:embed="rId3">
            <a:alphaModFix/>
          </a:blip>
          <a:stretch>
            <a:fillRect/>
          </a:stretch>
        </p:blipFill>
        <p:spPr>
          <a:xfrm>
            <a:off x="4889650" y="713825"/>
            <a:ext cx="1675700" cy="1675700"/>
          </a:xfrm>
          <a:prstGeom prst="rect">
            <a:avLst/>
          </a:prstGeom>
          <a:noFill/>
          <a:ln>
            <a:noFill/>
          </a:ln>
        </p:spPr>
      </p:pic>
      <p:pic>
        <p:nvPicPr>
          <p:cNvPr id="77" name="Google Shape;77;p15"/>
          <p:cNvPicPr preferRelativeResize="0"/>
          <p:nvPr/>
        </p:nvPicPr>
        <p:blipFill>
          <a:blip r:embed="rId4">
            <a:alphaModFix/>
          </a:blip>
          <a:stretch>
            <a:fillRect/>
          </a:stretch>
        </p:blipFill>
        <p:spPr>
          <a:xfrm>
            <a:off x="6274650" y="2067275"/>
            <a:ext cx="2619626" cy="26196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0" y="0"/>
            <a:ext cx="85206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Methodology</a:t>
            </a:r>
            <a:endParaRPr/>
          </a:p>
        </p:txBody>
      </p:sp>
      <p:sp>
        <p:nvSpPr>
          <p:cNvPr id="83" name="Google Shape;83;p16"/>
          <p:cNvSpPr txBox="1"/>
          <p:nvPr>
            <p:ph idx="1" type="body"/>
          </p:nvPr>
        </p:nvSpPr>
        <p:spPr>
          <a:xfrm>
            <a:off x="63800" y="626100"/>
            <a:ext cx="3248700" cy="419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s-419"/>
              <a:t>Eight analyses were performed:</a:t>
            </a:r>
            <a:endParaRPr/>
          </a:p>
        </p:txBody>
      </p:sp>
      <p:sp>
        <p:nvSpPr>
          <p:cNvPr id="84" name="Google Shape;84;p16"/>
          <p:cNvSpPr/>
          <p:nvPr/>
        </p:nvSpPr>
        <p:spPr>
          <a:xfrm>
            <a:off x="2747275" y="1314338"/>
            <a:ext cx="1685700" cy="1127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a:solidFill>
                  <a:schemeClr val="lt1"/>
                </a:solidFill>
                <a:latin typeface="Lato"/>
                <a:ea typeface="Lato"/>
                <a:cs typeface="Lato"/>
                <a:sym typeface="Lato"/>
              </a:rPr>
              <a:t>Records per day of week and type of day (Weekday or Weekend)</a:t>
            </a:r>
            <a:endParaRPr b="1">
              <a:solidFill>
                <a:schemeClr val="lt1"/>
              </a:solidFill>
              <a:latin typeface="Lato"/>
              <a:ea typeface="Lato"/>
              <a:cs typeface="Lato"/>
              <a:sym typeface="Lato"/>
            </a:endParaRPr>
          </a:p>
        </p:txBody>
      </p:sp>
      <p:sp>
        <p:nvSpPr>
          <p:cNvPr id="85" name="Google Shape;85;p16"/>
          <p:cNvSpPr/>
          <p:nvPr/>
        </p:nvSpPr>
        <p:spPr>
          <a:xfrm>
            <a:off x="775475" y="1314338"/>
            <a:ext cx="1685700" cy="11274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a:solidFill>
                  <a:schemeClr val="lt1"/>
                </a:solidFill>
                <a:latin typeface="Lato"/>
                <a:ea typeface="Lato"/>
                <a:cs typeface="Lato"/>
                <a:sym typeface="Lato"/>
              </a:rPr>
              <a:t>Number of records per ID</a:t>
            </a:r>
            <a:endParaRPr b="1">
              <a:solidFill>
                <a:schemeClr val="lt1"/>
              </a:solidFill>
              <a:latin typeface="Lato"/>
              <a:ea typeface="Lato"/>
              <a:cs typeface="Lato"/>
              <a:sym typeface="Lato"/>
            </a:endParaRPr>
          </a:p>
        </p:txBody>
      </p:sp>
      <p:sp>
        <p:nvSpPr>
          <p:cNvPr id="86" name="Google Shape;86;p16"/>
          <p:cNvSpPr/>
          <p:nvPr/>
        </p:nvSpPr>
        <p:spPr>
          <a:xfrm>
            <a:off x="6690875" y="1314338"/>
            <a:ext cx="1685700" cy="1127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a:solidFill>
                  <a:schemeClr val="lt1"/>
                </a:solidFill>
                <a:latin typeface="Lato"/>
                <a:ea typeface="Lato"/>
                <a:cs typeface="Lato"/>
                <a:sym typeface="Lato"/>
              </a:rPr>
              <a:t> Compare Adherence vs. Number of Records </a:t>
            </a:r>
            <a:endParaRPr b="1">
              <a:solidFill>
                <a:schemeClr val="lt1"/>
              </a:solidFill>
              <a:latin typeface="Lato"/>
              <a:ea typeface="Lato"/>
              <a:cs typeface="Lato"/>
              <a:sym typeface="Lato"/>
            </a:endParaRPr>
          </a:p>
        </p:txBody>
      </p:sp>
      <p:sp>
        <p:nvSpPr>
          <p:cNvPr id="87" name="Google Shape;87;p16"/>
          <p:cNvSpPr/>
          <p:nvPr/>
        </p:nvSpPr>
        <p:spPr>
          <a:xfrm>
            <a:off x="2809250" y="2944075"/>
            <a:ext cx="1685700" cy="11274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a:solidFill>
                  <a:schemeClr val="lt1"/>
                </a:solidFill>
                <a:latin typeface="Lato"/>
                <a:ea typeface="Lato"/>
                <a:cs typeface="Lato"/>
                <a:sym typeface="Lato"/>
              </a:rPr>
              <a:t>Relationship between Total Steps and Calories Burned Daily</a:t>
            </a:r>
            <a:endParaRPr b="1">
              <a:solidFill>
                <a:schemeClr val="lt1"/>
              </a:solidFill>
              <a:latin typeface="Lato"/>
              <a:ea typeface="Lato"/>
              <a:cs typeface="Lato"/>
              <a:sym typeface="Lato"/>
            </a:endParaRPr>
          </a:p>
        </p:txBody>
      </p:sp>
      <p:sp>
        <p:nvSpPr>
          <p:cNvPr id="88" name="Google Shape;88;p16"/>
          <p:cNvSpPr/>
          <p:nvPr/>
        </p:nvSpPr>
        <p:spPr>
          <a:xfrm>
            <a:off x="4719075" y="1314338"/>
            <a:ext cx="1685700" cy="11274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a:solidFill>
                  <a:schemeClr val="lt1"/>
                </a:solidFill>
                <a:latin typeface="Lato"/>
                <a:ea typeface="Lato"/>
                <a:cs typeface="Lato"/>
                <a:sym typeface="Lato"/>
              </a:rPr>
              <a:t>Adherence analysis based on minutes of use</a:t>
            </a:r>
            <a:endParaRPr b="1">
              <a:solidFill>
                <a:schemeClr val="lt1"/>
              </a:solidFill>
              <a:latin typeface="Lato"/>
              <a:ea typeface="Lato"/>
              <a:cs typeface="Lato"/>
              <a:sym typeface="Lato"/>
            </a:endParaRPr>
          </a:p>
        </p:txBody>
      </p:sp>
      <p:sp>
        <p:nvSpPr>
          <p:cNvPr id="89" name="Google Shape;89;p16"/>
          <p:cNvSpPr/>
          <p:nvPr/>
        </p:nvSpPr>
        <p:spPr>
          <a:xfrm>
            <a:off x="6690900" y="2944075"/>
            <a:ext cx="1685700" cy="11274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a:solidFill>
                  <a:schemeClr val="lt1"/>
                </a:solidFill>
                <a:latin typeface="Lato"/>
                <a:ea typeface="Lato"/>
                <a:cs typeface="Lato"/>
                <a:sym typeface="Lato"/>
              </a:rPr>
              <a:t>Classification by type of day and activity profile </a:t>
            </a:r>
            <a:endParaRPr b="1">
              <a:solidFill>
                <a:schemeClr val="lt1"/>
              </a:solidFill>
              <a:latin typeface="Lato"/>
              <a:ea typeface="Lato"/>
              <a:cs typeface="Lato"/>
              <a:sym typeface="Lato"/>
            </a:endParaRPr>
          </a:p>
        </p:txBody>
      </p:sp>
      <p:sp>
        <p:nvSpPr>
          <p:cNvPr id="90" name="Google Shape;90;p16"/>
          <p:cNvSpPr/>
          <p:nvPr/>
        </p:nvSpPr>
        <p:spPr>
          <a:xfrm>
            <a:off x="4750063" y="2944075"/>
            <a:ext cx="1685700" cy="1127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a:solidFill>
                  <a:schemeClr val="lt1"/>
                </a:solidFill>
                <a:latin typeface="Lato"/>
                <a:ea typeface="Lato"/>
                <a:cs typeface="Lato"/>
                <a:sym typeface="Lato"/>
              </a:rPr>
              <a:t>Comparison between average steps on weekends vs weekdays</a:t>
            </a:r>
            <a:r>
              <a:rPr b="1" lang="es-419">
                <a:solidFill>
                  <a:schemeClr val="lt1"/>
                </a:solidFill>
                <a:latin typeface="Lato"/>
                <a:ea typeface="Lato"/>
                <a:cs typeface="Lato"/>
                <a:sym typeface="Lato"/>
              </a:rPr>
              <a:t> </a:t>
            </a:r>
            <a:endParaRPr b="1">
              <a:solidFill>
                <a:schemeClr val="lt1"/>
              </a:solidFill>
              <a:latin typeface="Lato"/>
              <a:ea typeface="Lato"/>
              <a:cs typeface="Lato"/>
              <a:sym typeface="Lato"/>
            </a:endParaRPr>
          </a:p>
        </p:txBody>
      </p:sp>
      <p:sp>
        <p:nvSpPr>
          <p:cNvPr id="91" name="Google Shape;91;p16"/>
          <p:cNvSpPr/>
          <p:nvPr/>
        </p:nvSpPr>
        <p:spPr>
          <a:xfrm>
            <a:off x="724300" y="2944075"/>
            <a:ext cx="1685700" cy="1127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a:solidFill>
                  <a:schemeClr val="lt1"/>
                </a:solidFill>
                <a:latin typeface="Lato"/>
                <a:ea typeface="Lato"/>
                <a:cs typeface="Lato"/>
                <a:sym typeface="Lato"/>
              </a:rPr>
              <a:t>Mobility Profile of the Users </a:t>
            </a:r>
            <a:endParaRPr b="1">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150575" y="69125"/>
            <a:ext cx="85206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Analysis 1: Number of record per ID</a:t>
            </a:r>
            <a:endParaRPr/>
          </a:p>
        </p:txBody>
      </p:sp>
      <p:sp>
        <p:nvSpPr>
          <p:cNvPr id="97" name="Google Shape;97;p17"/>
          <p:cNvSpPr txBox="1"/>
          <p:nvPr>
            <p:ph idx="1" type="body"/>
          </p:nvPr>
        </p:nvSpPr>
        <p:spPr>
          <a:xfrm>
            <a:off x="5265625" y="8563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Findings:</a:t>
            </a:r>
            <a:endParaRPr sz="1400"/>
          </a:p>
          <a:p>
            <a:pPr indent="-304800" lvl="0" marL="457200" rtl="0" algn="l">
              <a:spcBef>
                <a:spcPts val="1200"/>
              </a:spcBef>
              <a:spcAft>
                <a:spcPts val="0"/>
              </a:spcAft>
              <a:buSzPts val="1200"/>
              <a:buChar char="●"/>
            </a:pPr>
            <a:r>
              <a:rPr lang="es-419" sz="1200"/>
              <a:t>Half of the users have between 8 and 11 records.</a:t>
            </a:r>
            <a:endParaRPr sz="1200"/>
          </a:p>
          <a:p>
            <a:pPr indent="-304800" lvl="0" marL="457200" rtl="0" algn="l">
              <a:spcBef>
                <a:spcPts val="0"/>
              </a:spcBef>
              <a:spcAft>
                <a:spcPts val="0"/>
              </a:spcAft>
              <a:buSzPts val="1200"/>
              <a:buChar char="●"/>
            </a:pPr>
            <a:r>
              <a:rPr lang="es-419" sz="1200"/>
              <a:t>Five users have less day 8 records meaning a low usage or possible </a:t>
            </a:r>
            <a:r>
              <a:rPr lang="es-419" sz="1200"/>
              <a:t>abandonment</a:t>
            </a:r>
            <a:r>
              <a:rPr lang="es-419" sz="1200"/>
              <a:t> of the device.</a:t>
            </a:r>
            <a:endParaRPr sz="1200"/>
          </a:p>
          <a:p>
            <a:pPr indent="-304800" lvl="0" marL="457200" rtl="0" algn="l">
              <a:spcBef>
                <a:spcPts val="0"/>
              </a:spcBef>
              <a:spcAft>
                <a:spcPts val="0"/>
              </a:spcAft>
              <a:buSzPts val="1200"/>
              <a:buChar char="●"/>
            </a:pPr>
            <a:r>
              <a:rPr lang="es-419" sz="1200"/>
              <a:t>Only one user have 28 records.</a:t>
            </a:r>
            <a:endParaRPr sz="1200"/>
          </a:p>
        </p:txBody>
      </p:sp>
      <p:pic>
        <p:nvPicPr>
          <p:cNvPr id="98" name="Google Shape;98;p17"/>
          <p:cNvPicPr preferRelativeResize="0"/>
          <p:nvPr/>
        </p:nvPicPr>
        <p:blipFill>
          <a:blip r:embed="rId3">
            <a:alphaModFix/>
          </a:blip>
          <a:stretch>
            <a:fillRect/>
          </a:stretch>
        </p:blipFill>
        <p:spPr>
          <a:xfrm>
            <a:off x="226775" y="916975"/>
            <a:ext cx="5038853" cy="3149283"/>
          </a:xfrm>
          <a:prstGeom prst="rect">
            <a:avLst/>
          </a:prstGeom>
          <a:noFill/>
          <a:ln>
            <a:noFill/>
          </a:ln>
        </p:spPr>
      </p:pic>
      <p:sp>
        <p:nvSpPr>
          <p:cNvPr id="99" name="Google Shape;99;p17"/>
          <p:cNvSpPr txBox="1"/>
          <p:nvPr>
            <p:ph idx="1" type="body"/>
          </p:nvPr>
        </p:nvSpPr>
        <p:spPr>
          <a:xfrm>
            <a:off x="150575" y="4066250"/>
            <a:ext cx="4512900" cy="5634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i="1" lang="es-419" sz="1000"/>
              <a:t>Figure 1.</a:t>
            </a:r>
            <a:r>
              <a:rPr lang="es-419" sz="1000"/>
              <a:t>- The bar chart shows the number of days each ID has been registered. Each bar represents an ID; the intensity of the blue color increases with the number of records for that user. </a:t>
            </a:r>
            <a:endParaRPr sz="1000"/>
          </a:p>
        </p:txBody>
      </p:sp>
      <p:sp>
        <p:nvSpPr>
          <p:cNvPr id="100" name="Google Shape;100;p17"/>
          <p:cNvSpPr txBox="1"/>
          <p:nvPr>
            <p:ph idx="1" type="body"/>
          </p:nvPr>
        </p:nvSpPr>
        <p:spPr>
          <a:xfrm>
            <a:off x="5265625" y="28074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Recommend</a:t>
            </a:r>
            <a:r>
              <a:rPr lang="es-419" sz="1400"/>
              <a:t> strategies</a:t>
            </a:r>
            <a:r>
              <a:rPr lang="es-419" sz="1400"/>
              <a:t>:</a:t>
            </a:r>
            <a:endParaRPr sz="1400"/>
          </a:p>
          <a:p>
            <a:pPr indent="-304800" lvl="0" marL="457200" rtl="0" algn="l">
              <a:spcBef>
                <a:spcPts val="1200"/>
              </a:spcBef>
              <a:spcAft>
                <a:spcPts val="0"/>
              </a:spcAft>
              <a:buSzPts val="1200"/>
              <a:buChar char="●"/>
            </a:pPr>
            <a:r>
              <a:rPr lang="es-419" sz="1200"/>
              <a:t>Gently personalized reminders aimed at low-activity users</a:t>
            </a:r>
            <a:endParaRPr sz="1200"/>
          </a:p>
          <a:p>
            <a:pPr indent="-304800" lvl="0" marL="457200" rtl="0" algn="l">
              <a:spcBef>
                <a:spcPts val="0"/>
              </a:spcBef>
              <a:spcAft>
                <a:spcPts val="0"/>
              </a:spcAft>
              <a:buSzPts val="1200"/>
              <a:buChar char="●"/>
            </a:pPr>
            <a:r>
              <a:rPr lang="es-419" sz="1200"/>
              <a:t>Rewards for daily use</a:t>
            </a:r>
            <a:endParaRPr sz="1200"/>
          </a:p>
          <a:p>
            <a:pPr indent="-304800" lvl="0" marL="457200" rtl="0" algn="l">
              <a:spcBef>
                <a:spcPts val="0"/>
              </a:spcBef>
              <a:spcAft>
                <a:spcPts val="0"/>
              </a:spcAft>
              <a:buSzPts val="1200"/>
              <a:buChar char="●"/>
            </a:pPr>
            <a:r>
              <a:rPr lang="es-419" sz="1200"/>
              <a:t>Social integration and competitions</a:t>
            </a:r>
            <a:endParaRPr sz="1200"/>
          </a:p>
          <a:p>
            <a:pPr indent="-304800" lvl="0" marL="457200" rtl="0" algn="l">
              <a:spcBef>
                <a:spcPts val="0"/>
              </a:spcBef>
              <a:spcAft>
                <a:spcPts val="0"/>
              </a:spcAft>
              <a:buSzPts val="1200"/>
              <a:buChar char="●"/>
            </a:pPr>
            <a:r>
              <a:rPr lang="es-419" sz="1200"/>
              <a:t>Education on benefits and results</a:t>
            </a:r>
            <a:endParaRPr sz="1200"/>
          </a:p>
          <a:p>
            <a:pPr indent="-304800" lvl="0" marL="457200" rtl="0" algn="l">
              <a:spcBef>
                <a:spcPts val="0"/>
              </a:spcBef>
              <a:spcAft>
                <a:spcPts val="0"/>
              </a:spcAft>
              <a:buSzPts val="1200"/>
              <a:buChar char="●"/>
            </a:pPr>
            <a:r>
              <a:rPr lang="es-419" sz="1200"/>
              <a:t>Programas de seguimiento proactivo </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0" y="0"/>
            <a:ext cx="91440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Analysis 2: Records per day of week and type of day (Weekday or Weekend). </a:t>
            </a:r>
            <a:endParaRPr/>
          </a:p>
        </p:txBody>
      </p:sp>
      <p:sp>
        <p:nvSpPr>
          <p:cNvPr id="106" name="Google Shape;106;p18"/>
          <p:cNvSpPr txBox="1"/>
          <p:nvPr>
            <p:ph idx="1" type="body"/>
          </p:nvPr>
        </p:nvSpPr>
        <p:spPr>
          <a:xfrm>
            <a:off x="5265625" y="11270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Findings:</a:t>
            </a:r>
            <a:endParaRPr sz="1400"/>
          </a:p>
          <a:p>
            <a:pPr indent="-304800" lvl="0" marL="457200" rtl="0" algn="l">
              <a:spcBef>
                <a:spcPts val="1200"/>
              </a:spcBef>
              <a:spcAft>
                <a:spcPts val="0"/>
              </a:spcAft>
              <a:buSzPts val="1200"/>
              <a:buChar char="●"/>
            </a:pPr>
            <a:r>
              <a:rPr lang="es-419" sz="1200"/>
              <a:t>Total records are higher on weekdays (223) than weekends (121), but this is due to more weekdays in the dataset.</a:t>
            </a:r>
            <a:endParaRPr sz="1200"/>
          </a:p>
          <a:p>
            <a:pPr indent="-304800" lvl="0" marL="457200" rtl="0" algn="l">
              <a:spcBef>
                <a:spcPts val="0"/>
              </a:spcBef>
              <a:spcAft>
                <a:spcPts val="0"/>
              </a:spcAft>
              <a:buSzPts val="1200"/>
              <a:buChar char="●"/>
            </a:pPr>
            <a:r>
              <a:rPr lang="es-419" sz="1200"/>
              <a:t>Average activity is higher on weekends (60.5 records/day) than weekdays (44.6 records/day).</a:t>
            </a:r>
            <a:endParaRPr sz="1200"/>
          </a:p>
          <a:p>
            <a:pPr indent="-304800" lvl="0" marL="457200" rtl="0" algn="l">
              <a:spcBef>
                <a:spcPts val="0"/>
              </a:spcBef>
              <a:spcAft>
                <a:spcPts val="0"/>
              </a:spcAft>
              <a:buSzPts val="1200"/>
              <a:buChar char="●"/>
            </a:pPr>
            <a:r>
              <a:rPr lang="es-419" sz="1200"/>
              <a:t>Sunday has the highest number of records (61), followed closely by Saturday (60).</a:t>
            </a:r>
            <a:endParaRPr sz="1200"/>
          </a:p>
        </p:txBody>
      </p:sp>
      <p:sp>
        <p:nvSpPr>
          <p:cNvPr id="107" name="Google Shape;107;p18"/>
          <p:cNvSpPr txBox="1"/>
          <p:nvPr>
            <p:ph idx="1" type="body"/>
          </p:nvPr>
        </p:nvSpPr>
        <p:spPr>
          <a:xfrm>
            <a:off x="5265625" y="33708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Recommend strategies:</a:t>
            </a:r>
            <a:endParaRPr sz="1400"/>
          </a:p>
          <a:p>
            <a:pPr indent="-304800" lvl="0" marL="457200" rtl="0" algn="l">
              <a:spcBef>
                <a:spcPts val="1200"/>
              </a:spcBef>
              <a:spcAft>
                <a:spcPts val="0"/>
              </a:spcAft>
              <a:buSzPts val="1200"/>
              <a:buChar char="●"/>
            </a:pPr>
            <a:r>
              <a:rPr lang="es-419" sz="1200"/>
              <a:t>Send reminders or tips during weekdays</a:t>
            </a:r>
            <a:endParaRPr sz="1200"/>
          </a:p>
          <a:p>
            <a:pPr indent="-304800" lvl="0" marL="457200" rtl="0" algn="l">
              <a:spcBef>
                <a:spcPts val="0"/>
              </a:spcBef>
              <a:spcAft>
                <a:spcPts val="0"/>
              </a:spcAft>
              <a:buSzPts val="1200"/>
              <a:buChar char="●"/>
            </a:pPr>
            <a:r>
              <a:rPr lang="es-419" sz="1200"/>
              <a:t>Highlight weekday benefits</a:t>
            </a:r>
            <a:endParaRPr sz="1200"/>
          </a:p>
          <a:p>
            <a:pPr indent="-304800" lvl="0" marL="457200" rtl="0" algn="l">
              <a:spcBef>
                <a:spcPts val="0"/>
              </a:spcBef>
              <a:spcAft>
                <a:spcPts val="0"/>
              </a:spcAft>
              <a:buSzPts val="1200"/>
              <a:buChar char="●"/>
            </a:pPr>
            <a:r>
              <a:rPr lang="es-419" sz="1200"/>
              <a:t>Weekday mini-challenges</a:t>
            </a:r>
            <a:endParaRPr sz="1200"/>
          </a:p>
          <a:p>
            <a:pPr indent="-304800" lvl="0" marL="457200" rtl="0" algn="l">
              <a:spcBef>
                <a:spcPts val="0"/>
              </a:spcBef>
              <a:spcAft>
                <a:spcPts val="0"/>
              </a:spcAft>
              <a:buSzPts val="1200"/>
              <a:buChar char="●"/>
            </a:pPr>
            <a:r>
              <a:rPr lang="es-419" sz="1200"/>
              <a:t>Progress insights &amp; streaks</a:t>
            </a:r>
            <a:endParaRPr sz="1200"/>
          </a:p>
        </p:txBody>
      </p:sp>
      <p:sp>
        <p:nvSpPr>
          <p:cNvPr id="108" name="Google Shape;108;p18"/>
          <p:cNvSpPr txBox="1"/>
          <p:nvPr>
            <p:ph idx="1" type="body"/>
          </p:nvPr>
        </p:nvSpPr>
        <p:spPr>
          <a:xfrm>
            <a:off x="150575" y="4066250"/>
            <a:ext cx="4512900" cy="563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i="1" lang="es-419" sz="1000"/>
              <a:t>Figure 2.-</a:t>
            </a:r>
            <a:r>
              <a:rPr lang="es-419" sz="1000"/>
              <a:t> The bar chart represents the number of records per day of the week. The yellow bars show low user activity, the orange bars show medium activity, and the red bars show high activity.</a:t>
            </a:r>
            <a:endParaRPr sz="1000"/>
          </a:p>
        </p:txBody>
      </p:sp>
      <p:pic>
        <p:nvPicPr>
          <p:cNvPr id="109" name="Google Shape;109;p18"/>
          <p:cNvPicPr preferRelativeResize="0"/>
          <p:nvPr/>
        </p:nvPicPr>
        <p:blipFill>
          <a:blip r:embed="rId3">
            <a:alphaModFix/>
          </a:blip>
          <a:stretch>
            <a:fillRect/>
          </a:stretch>
        </p:blipFill>
        <p:spPr>
          <a:xfrm>
            <a:off x="212500" y="930900"/>
            <a:ext cx="4389059" cy="31353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150575" y="81500"/>
            <a:ext cx="85206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Analysis 3: Adherence analysis based on minutes of use</a:t>
            </a:r>
            <a:endParaRPr/>
          </a:p>
        </p:txBody>
      </p:sp>
      <p:sp>
        <p:nvSpPr>
          <p:cNvPr id="115" name="Google Shape;115;p19"/>
          <p:cNvSpPr txBox="1"/>
          <p:nvPr>
            <p:ph idx="1" type="body"/>
          </p:nvPr>
        </p:nvSpPr>
        <p:spPr>
          <a:xfrm>
            <a:off x="5265625" y="11270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Findings:</a:t>
            </a:r>
            <a:endParaRPr sz="1400"/>
          </a:p>
          <a:p>
            <a:pPr indent="-304800" lvl="0" marL="457200" rtl="0" algn="l">
              <a:spcBef>
                <a:spcPts val="1200"/>
              </a:spcBef>
              <a:spcAft>
                <a:spcPts val="0"/>
              </a:spcAft>
              <a:buSzPts val="1200"/>
              <a:buChar char="●"/>
            </a:pPr>
            <a:r>
              <a:rPr lang="es-419" sz="1200"/>
              <a:t>92.6% of days show high or very high usage.</a:t>
            </a:r>
            <a:endParaRPr sz="1200"/>
          </a:p>
          <a:p>
            <a:pPr indent="-304800" lvl="0" marL="457200" rtl="0" algn="l">
              <a:spcBef>
                <a:spcPts val="0"/>
              </a:spcBef>
              <a:spcAft>
                <a:spcPts val="0"/>
              </a:spcAft>
              <a:buSzPts val="1200"/>
              <a:buChar char="●"/>
            </a:pPr>
            <a:r>
              <a:rPr lang="es-419" sz="1200"/>
              <a:t>56% of days are very high usage.</a:t>
            </a:r>
            <a:endParaRPr sz="1200"/>
          </a:p>
          <a:p>
            <a:pPr indent="-304800" lvl="0" marL="457200" rtl="0" algn="l">
              <a:spcBef>
                <a:spcPts val="0"/>
              </a:spcBef>
              <a:spcAft>
                <a:spcPts val="0"/>
              </a:spcAft>
              <a:buSzPts val="1200"/>
              <a:buChar char="●"/>
            </a:pPr>
            <a:r>
              <a:rPr lang="es-419" sz="1200"/>
              <a:t>Only 7.3% of days have moderate or low usage.</a:t>
            </a:r>
            <a:endParaRPr sz="1200"/>
          </a:p>
          <a:p>
            <a:pPr indent="-304800" lvl="0" marL="457200" rtl="0" algn="l">
              <a:spcBef>
                <a:spcPts val="0"/>
              </a:spcBef>
              <a:spcAft>
                <a:spcPts val="0"/>
              </a:spcAft>
              <a:buSzPts val="1200"/>
              <a:buChar char="●"/>
            </a:pPr>
            <a:r>
              <a:rPr lang="es-419" sz="1200"/>
              <a:t>Users consistently exceeded 12 hours/day, ensuring reliable data.</a:t>
            </a:r>
            <a:endParaRPr sz="1200"/>
          </a:p>
        </p:txBody>
      </p:sp>
      <p:sp>
        <p:nvSpPr>
          <p:cNvPr id="116" name="Google Shape;116;p19"/>
          <p:cNvSpPr txBox="1"/>
          <p:nvPr>
            <p:ph idx="1" type="body"/>
          </p:nvPr>
        </p:nvSpPr>
        <p:spPr>
          <a:xfrm>
            <a:off x="5265625" y="307340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Recommend strategies:</a:t>
            </a:r>
            <a:endParaRPr sz="1400"/>
          </a:p>
          <a:p>
            <a:pPr indent="-304800" lvl="0" marL="457200" rtl="0" algn="l">
              <a:spcBef>
                <a:spcPts val="1200"/>
              </a:spcBef>
              <a:spcAft>
                <a:spcPts val="0"/>
              </a:spcAft>
              <a:buSzPts val="1200"/>
              <a:buChar char="●"/>
            </a:pPr>
            <a:r>
              <a:rPr lang="es-419" sz="1200"/>
              <a:t>Loyalty rewards </a:t>
            </a:r>
            <a:endParaRPr sz="1200"/>
          </a:p>
          <a:p>
            <a:pPr indent="-304800" lvl="0" marL="457200" rtl="0" algn="l">
              <a:spcBef>
                <a:spcPts val="0"/>
              </a:spcBef>
              <a:spcAft>
                <a:spcPts val="0"/>
              </a:spcAft>
              <a:buSzPts val="1200"/>
              <a:buChar char="●"/>
            </a:pPr>
            <a:r>
              <a:rPr lang="es-419" sz="1200"/>
              <a:t>P</a:t>
            </a:r>
            <a:r>
              <a:rPr lang="es-419" sz="1200"/>
              <a:t>ersonalized summaries highlighting progress and trends</a:t>
            </a:r>
            <a:endParaRPr sz="1200"/>
          </a:p>
          <a:p>
            <a:pPr indent="-304800" lvl="0" marL="457200" rtl="0" algn="l">
              <a:spcBef>
                <a:spcPts val="0"/>
              </a:spcBef>
              <a:spcAft>
                <a:spcPts val="0"/>
              </a:spcAft>
              <a:buSzPts val="1200"/>
              <a:buChar char="●"/>
            </a:pPr>
            <a:r>
              <a:rPr lang="es-419" sz="1200"/>
              <a:t>Reward consistent users with access to premium functions or analytics.</a:t>
            </a:r>
            <a:endParaRPr sz="1200"/>
          </a:p>
          <a:p>
            <a:pPr indent="0" lvl="0" marL="457200" rtl="0" algn="l">
              <a:spcBef>
                <a:spcPts val="1200"/>
              </a:spcBef>
              <a:spcAft>
                <a:spcPts val="1200"/>
              </a:spcAft>
              <a:buNone/>
            </a:pPr>
            <a:r>
              <a:t/>
            </a:r>
            <a:endParaRPr sz="1200"/>
          </a:p>
        </p:txBody>
      </p:sp>
      <p:sp>
        <p:nvSpPr>
          <p:cNvPr id="117" name="Google Shape;117;p19"/>
          <p:cNvSpPr txBox="1"/>
          <p:nvPr>
            <p:ph idx="1" type="body"/>
          </p:nvPr>
        </p:nvSpPr>
        <p:spPr>
          <a:xfrm>
            <a:off x="150575" y="4066250"/>
            <a:ext cx="4512900" cy="563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i="1" lang="es-419" sz="1000"/>
              <a:t>Figure 3.-</a:t>
            </a:r>
            <a:r>
              <a:rPr lang="es-419" sz="1000"/>
              <a:t> </a:t>
            </a:r>
            <a:r>
              <a:rPr lang="es-419" sz="1000"/>
              <a:t>The pie chart shows the results in percentage of the daily usage of the device, classified into four categories: very high, high, moderate, and low.</a:t>
            </a:r>
            <a:endParaRPr sz="1000"/>
          </a:p>
        </p:txBody>
      </p:sp>
      <p:pic>
        <p:nvPicPr>
          <p:cNvPr id="118" name="Google Shape;118;p19"/>
          <p:cNvPicPr preferRelativeResize="0"/>
          <p:nvPr/>
        </p:nvPicPr>
        <p:blipFill>
          <a:blip r:embed="rId3">
            <a:alphaModFix/>
          </a:blip>
          <a:stretch>
            <a:fillRect/>
          </a:stretch>
        </p:blipFill>
        <p:spPr>
          <a:xfrm>
            <a:off x="269538" y="1044825"/>
            <a:ext cx="4274970" cy="30538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11700" y="0"/>
            <a:ext cx="85206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Analysis 4: Compare Adherence vs. Number of Records</a:t>
            </a:r>
            <a:endParaRPr/>
          </a:p>
        </p:txBody>
      </p:sp>
      <p:sp>
        <p:nvSpPr>
          <p:cNvPr id="124" name="Google Shape;124;p20"/>
          <p:cNvSpPr txBox="1"/>
          <p:nvPr>
            <p:ph idx="1" type="body"/>
          </p:nvPr>
        </p:nvSpPr>
        <p:spPr>
          <a:xfrm>
            <a:off x="150575" y="4066250"/>
            <a:ext cx="4512900" cy="563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i="1" lang="es-419" sz="1000"/>
              <a:t>Figure 4.-</a:t>
            </a:r>
            <a:r>
              <a:rPr lang="es-419" sz="1000"/>
              <a:t> </a:t>
            </a:r>
            <a:r>
              <a:rPr lang="es-419" sz="1000"/>
              <a:t>Scatter plot showing the relationship between the percentage of time each ID uses the device and the number of records per user. Different IDs are represented by the blue dots, while the trend line is shown in red. The darker blue dots represent an overlap of IDs that have the same values on both axes.</a:t>
            </a:r>
            <a:endParaRPr sz="1000"/>
          </a:p>
        </p:txBody>
      </p:sp>
      <p:sp>
        <p:nvSpPr>
          <p:cNvPr id="125" name="Google Shape;125;p20"/>
          <p:cNvSpPr txBox="1"/>
          <p:nvPr>
            <p:ph idx="1" type="body"/>
          </p:nvPr>
        </p:nvSpPr>
        <p:spPr>
          <a:xfrm>
            <a:off x="5401950" y="854400"/>
            <a:ext cx="3595800" cy="1258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400"/>
              <a:t>Findings:</a:t>
            </a:r>
            <a:endParaRPr sz="1400"/>
          </a:p>
          <a:p>
            <a:pPr indent="-304800" lvl="0" marL="457200" rtl="0" algn="just">
              <a:spcBef>
                <a:spcPts val="1200"/>
              </a:spcBef>
              <a:spcAft>
                <a:spcPts val="0"/>
              </a:spcAft>
              <a:buSzPts val="1200"/>
              <a:buChar char="●"/>
            </a:pPr>
            <a:r>
              <a:rPr lang="es-419" sz="1200"/>
              <a:t>Only 33 users met minimum quality standards.</a:t>
            </a:r>
            <a:endParaRPr sz="1200"/>
          </a:p>
          <a:p>
            <a:pPr indent="-304800" lvl="0" marL="457200" rtl="0" algn="just">
              <a:spcBef>
                <a:spcPts val="0"/>
              </a:spcBef>
              <a:spcAft>
                <a:spcPts val="0"/>
              </a:spcAft>
              <a:buSzPts val="1200"/>
              <a:buChar char="●"/>
            </a:pPr>
            <a:r>
              <a:rPr lang="es-419" sz="1200"/>
              <a:t>Most users have 5–16 records</a:t>
            </a:r>
            <a:r>
              <a:rPr lang="es-419" sz="1200"/>
              <a:t>.</a:t>
            </a:r>
            <a:endParaRPr sz="1200"/>
          </a:p>
          <a:p>
            <a:pPr indent="-304800" lvl="0" marL="457200" rtl="0" algn="just">
              <a:spcBef>
                <a:spcPts val="0"/>
              </a:spcBef>
              <a:spcAft>
                <a:spcPts val="0"/>
              </a:spcAft>
              <a:buSzPts val="1200"/>
              <a:buChar char="●"/>
            </a:pPr>
            <a:r>
              <a:rPr lang="es-419" sz="1200"/>
              <a:t>Majority of users show 0–5% adherence; one user reaches ~8%.</a:t>
            </a:r>
            <a:endParaRPr sz="1200"/>
          </a:p>
          <a:p>
            <a:pPr indent="-304800" lvl="0" marL="457200" rtl="0" algn="just">
              <a:spcBef>
                <a:spcPts val="0"/>
              </a:spcBef>
              <a:spcAft>
                <a:spcPts val="0"/>
              </a:spcAft>
              <a:buSzPts val="1200"/>
              <a:buChar char="●"/>
            </a:pPr>
            <a:r>
              <a:rPr lang="es-419" sz="1200"/>
              <a:t>Strong positive correlation.</a:t>
            </a:r>
            <a:endParaRPr sz="1200"/>
          </a:p>
          <a:p>
            <a:pPr indent="-304800" lvl="0" marL="457200" rtl="0" algn="just">
              <a:spcBef>
                <a:spcPts val="0"/>
              </a:spcBef>
              <a:spcAft>
                <a:spcPts val="0"/>
              </a:spcAft>
              <a:buSzPts val="1200"/>
              <a:buChar char="●"/>
            </a:pPr>
            <a:r>
              <a:rPr lang="es-419" sz="1200"/>
              <a:t>Pearson correlation: 0.994 Near-perfect relationship between variables.</a:t>
            </a:r>
            <a:endParaRPr sz="1200"/>
          </a:p>
        </p:txBody>
      </p:sp>
      <p:sp>
        <p:nvSpPr>
          <p:cNvPr id="126" name="Google Shape;126;p20"/>
          <p:cNvSpPr txBox="1"/>
          <p:nvPr>
            <p:ph idx="1" type="body"/>
          </p:nvPr>
        </p:nvSpPr>
        <p:spPr>
          <a:xfrm>
            <a:off x="5401950" y="307340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Recommend strategies:</a:t>
            </a:r>
            <a:endParaRPr sz="1400"/>
          </a:p>
          <a:p>
            <a:pPr indent="-304800" lvl="0" marL="457200" rtl="0" algn="l">
              <a:spcBef>
                <a:spcPts val="1200"/>
              </a:spcBef>
              <a:spcAft>
                <a:spcPts val="0"/>
              </a:spcAft>
              <a:buSzPts val="1200"/>
              <a:buChar char="●"/>
            </a:pPr>
            <a:r>
              <a:rPr lang="es-419" sz="1200"/>
              <a:t>Motivate users to record data daily to boost adherence</a:t>
            </a:r>
            <a:endParaRPr sz="1200"/>
          </a:p>
          <a:p>
            <a:pPr indent="-304800" lvl="0" marL="457200" rtl="0" algn="l">
              <a:spcBef>
                <a:spcPts val="0"/>
              </a:spcBef>
              <a:spcAft>
                <a:spcPts val="0"/>
              </a:spcAft>
              <a:buSzPts val="1200"/>
              <a:buChar char="●"/>
            </a:pPr>
            <a:r>
              <a:rPr lang="es-419" sz="1200"/>
              <a:t>Progress tracking &amp; feedback</a:t>
            </a:r>
            <a:endParaRPr sz="1200"/>
          </a:p>
          <a:p>
            <a:pPr indent="-304800" lvl="0" marL="457200" rtl="0" algn="l">
              <a:spcBef>
                <a:spcPts val="0"/>
              </a:spcBef>
              <a:spcAft>
                <a:spcPts val="0"/>
              </a:spcAft>
              <a:buSzPts val="1200"/>
              <a:buChar char="●"/>
            </a:pPr>
            <a:r>
              <a:rPr lang="es-419" sz="1200"/>
              <a:t>Showcase users with high records and adherence as motivation for others</a:t>
            </a:r>
            <a:r>
              <a:rPr lang="es-419" sz="1200"/>
              <a:t>.</a:t>
            </a:r>
            <a:endParaRPr sz="1200"/>
          </a:p>
          <a:p>
            <a:pPr indent="0" lvl="0" marL="457200" rtl="0" algn="l">
              <a:spcBef>
                <a:spcPts val="1200"/>
              </a:spcBef>
              <a:spcAft>
                <a:spcPts val="1200"/>
              </a:spcAft>
              <a:buNone/>
            </a:pPr>
            <a:r>
              <a:t/>
            </a:r>
            <a:endParaRPr sz="1200"/>
          </a:p>
        </p:txBody>
      </p:sp>
      <p:pic>
        <p:nvPicPr>
          <p:cNvPr id="127" name="Google Shape;127;p20"/>
          <p:cNvPicPr preferRelativeResize="0"/>
          <p:nvPr/>
        </p:nvPicPr>
        <p:blipFill>
          <a:blip r:embed="rId3">
            <a:alphaModFix/>
          </a:blip>
          <a:stretch>
            <a:fillRect/>
          </a:stretch>
        </p:blipFill>
        <p:spPr>
          <a:xfrm>
            <a:off x="212500" y="930900"/>
            <a:ext cx="4389059" cy="31353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51425" y="81500"/>
            <a:ext cx="85206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Analysis 5: Mobility Profile of the Users</a:t>
            </a:r>
            <a:endParaRPr/>
          </a:p>
        </p:txBody>
      </p:sp>
      <p:sp>
        <p:nvSpPr>
          <p:cNvPr id="133" name="Google Shape;133;p21"/>
          <p:cNvSpPr txBox="1"/>
          <p:nvPr>
            <p:ph idx="1" type="body"/>
          </p:nvPr>
        </p:nvSpPr>
        <p:spPr>
          <a:xfrm>
            <a:off x="5265625" y="6560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Findings:</a:t>
            </a:r>
            <a:endParaRPr sz="1400"/>
          </a:p>
          <a:p>
            <a:pPr indent="-304800" lvl="0" marL="457200" rtl="0" algn="l">
              <a:spcBef>
                <a:spcPts val="1200"/>
              </a:spcBef>
              <a:spcAft>
                <a:spcPts val="0"/>
              </a:spcAft>
              <a:buSzPts val="1200"/>
              <a:buChar char="●"/>
            </a:pPr>
            <a:r>
              <a:rPr lang="es-419" sz="1200"/>
              <a:t>45.4% of users fall into the high mobility profile (&gt;4.7 miles/day)</a:t>
            </a:r>
            <a:r>
              <a:rPr lang="es-419" sz="1200"/>
              <a:t>.</a:t>
            </a:r>
            <a:endParaRPr sz="1200"/>
          </a:p>
          <a:p>
            <a:pPr indent="-304800" lvl="0" marL="457200" rtl="0" algn="l">
              <a:spcBef>
                <a:spcPts val="0"/>
              </a:spcBef>
              <a:spcAft>
                <a:spcPts val="0"/>
              </a:spcAft>
              <a:buSzPts val="1200"/>
              <a:buChar char="●"/>
            </a:pPr>
            <a:r>
              <a:rPr lang="es-419" sz="1200"/>
              <a:t>18.2% are sedentary (&lt;0.9 miles/day), 21.2% have light activity (0.9–3 miles/day).</a:t>
            </a:r>
            <a:endParaRPr sz="1200"/>
          </a:p>
          <a:p>
            <a:pPr indent="-304800" lvl="0" marL="457200" rtl="0" algn="l">
              <a:spcBef>
                <a:spcPts val="0"/>
              </a:spcBef>
              <a:spcAft>
                <a:spcPts val="0"/>
              </a:spcAft>
              <a:buSzPts val="1200"/>
              <a:buChar char="●"/>
            </a:pPr>
            <a:r>
              <a:rPr lang="es-419" sz="1200"/>
              <a:t>Only 15.2% of users fall into the moderate profile (3–4.7 miles/day).</a:t>
            </a:r>
            <a:endParaRPr sz="1200"/>
          </a:p>
          <a:p>
            <a:pPr indent="-304800" lvl="0" marL="457200" rtl="0" algn="l">
              <a:spcBef>
                <a:spcPts val="0"/>
              </a:spcBef>
              <a:spcAft>
                <a:spcPts val="0"/>
              </a:spcAft>
              <a:buSzPts val="1200"/>
              <a:buChar char="●"/>
            </a:pPr>
            <a:r>
              <a:rPr lang="es-419" sz="1200"/>
              <a:t>Profiles determined per day, then the predominant profile assigned per user.</a:t>
            </a:r>
            <a:endParaRPr sz="1200"/>
          </a:p>
          <a:p>
            <a:pPr indent="-304800" lvl="0" marL="457200" rtl="0" algn="l">
              <a:spcBef>
                <a:spcPts val="0"/>
              </a:spcBef>
              <a:spcAft>
                <a:spcPts val="0"/>
              </a:spcAft>
              <a:buSzPts val="1200"/>
              <a:buChar char="●"/>
            </a:pPr>
            <a:r>
              <a:rPr lang="es-419" sz="1200"/>
              <a:t>Results may have bias due to only 33 users analyzed.</a:t>
            </a:r>
            <a:endParaRPr sz="1200"/>
          </a:p>
        </p:txBody>
      </p:sp>
      <p:sp>
        <p:nvSpPr>
          <p:cNvPr id="134" name="Google Shape;134;p21"/>
          <p:cNvSpPr txBox="1"/>
          <p:nvPr>
            <p:ph idx="1" type="body"/>
          </p:nvPr>
        </p:nvSpPr>
        <p:spPr>
          <a:xfrm>
            <a:off x="5265625" y="31849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Recommend strategies:</a:t>
            </a:r>
            <a:endParaRPr sz="1400"/>
          </a:p>
          <a:p>
            <a:pPr indent="-304800" lvl="0" marL="457200" rtl="0" algn="l">
              <a:spcBef>
                <a:spcPts val="1200"/>
              </a:spcBef>
              <a:spcAft>
                <a:spcPts val="0"/>
              </a:spcAft>
              <a:buSzPts val="1200"/>
              <a:buChar char="●"/>
            </a:pPr>
            <a:r>
              <a:rPr lang="es-419" sz="1200"/>
              <a:t>Targeted content by activity level.</a:t>
            </a:r>
            <a:endParaRPr sz="1200"/>
          </a:p>
          <a:p>
            <a:pPr indent="-304800" lvl="0" marL="457200" rtl="0" algn="l">
              <a:spcBef>
                <a:spcPts val="0"/>
              </a:spcBef>
              <a:spcAft>
                <a:spcPts val="0"/>
              </a:spcAft>
              <a:buSzPts val="1200"/>
              <a:buChar char="●"/>
            </a:pPr>
            <a:r>
              <a:rPr lang="es-419" sz="1200"/>
              <a:t>Send reminders or encouragement to increase daily movement</a:t>
            </a:r>
            <a:endParaRPr sz="1200"/>
          </a:p>
          <a:p>
            <a:pPr indent="-304800" lvl="0" marL="457200" rtl="0" algn="l">
              <a:spcBef>
                <a:spcPts val="0"/>
              </a:spcBef>
              <a:spcAft>
                <a:spcPts val="0"/>
              </a:spcAft>
              <a:buSzPts val="1200"/>
              <a:buChar char="●"/>
            </a:pPr>
            <a:r>
              <a:rPr lang="es-419" sz="1200"/>
              <a:t>R</a:t>
            </a:r>
            <a:r>
              <a:rPr lang="es-419" sz="1200"/>
              <a:t>eward users for meeting personal distance goals, not just high activity.</a:t>
            </a:r>
            <a:endParaRPr sz="1200"/>
          </a:p>
          <a:p>
            <a:pPr indent="-304800" lvl="0" marL="457200" rtl="0" algn="l">
              <a:spcBef>
                <a:spcPts val="0"/>
              </a:spcBef>
              <a:spcAft>
                <a:spcPts val="0"/>
              </a:spcAft>
              <a:buSzPts val="1200"/>
              <a:buChar char="●"/>
            </a:pPr>
            <a:r>
              <a:rPr lang="es-419" sz="1200"/>
              <a:t>Progress tracking &amp; insights.</a:t>
            </a:r>
            <a:endParaRPr sz="1200"/>
          </a:p>
          <a:p>
            <a:pPr indent="0" lvl="0" marL="457200" rtl="0" algn="l">
              <a:spcBef>
                <a:spcPts val="1200"/>
              </a:spcBef>
              <a:spcAft>
                <a:spcPts val="1200"/>
              </a:spcAft>
              <a:buNone/>
            </a:pPr>
            <a:r>
              <a:t/>
            </a:r>
            <a:endParaRPr sz="1200"/>
          </a:p>
        </p:txBody>
      </p:sp>
      <p:sp>
        <p:nvSpPr>
          <p:cNvPr id="135" name="Google Shape;135;p21"/>
          <p:cNvSpPr txBox="1"/>
          <p:nvPr>
            <p:ph idx="1" type="body"/>
          </p:nvPr>
        </p:nvSpPr>
        <p:spPr>
          <a:xfrm>
            <a:off x="125800" y="4332200"/>
            <a:ext cx="4512900" cy="26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i="1" lang="es-419" sz="1000"/>
              <a:t>Figure 5.-</a:t>
            </a:r>
            <a:r>
              <a:rPr lang="es-419" sz="1000"/>
              <a:t> </a:t>
            </a:r>
            <a:r>
              <a:rPr lang="es-419" sz="1000"/>
              <a:t>Shows the percentages of users for each type of mobility profile</a:t>
            </a:r>
            <a:r>
              <a:rPr lang="es-419" sz="1000"/>
              <a:t>.</a:t>
            </a:r>
            <a:endParaRPr sz="1000"/>
          </a:p>
        </p:txBody>
      </p:sp>
      <p:pic>
        <p:nvPicPr>
          <p:cNvPr id="136" name="Google Shape;136;p21"/>
          <p:cNvPicPr preferRelativeResize="0"/>
          <p:nvPr/>
        </p:nvPicPr>
        <p:blipFill rotWithShape="1">
          <a:blip r:embed="rId3">
            <a:alphaModFix/>
          </a:blip>
          <a:srcRect b="6976" l="0" r="0" t="0"/>
          <a:stretch/>
        </p:blipFill>
        <p:spPr>
          <a:xfrm>
            <a:off x="445225" y="860000"/>
            <a:ext cx="4222525" cy="33658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113400" y="118675"/>
            <a:ext cx="85206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Analysis 6: Relationship between Total Steps and Calories Burned Daily</a:t>
            </a:r>
            <a:endParaRPr/>
          </a:p>
          <a:p>
            <a:pPr indent="0" lvl="0" marL="0" rtl="0" algn="ctr">
              <a:spcBef>
                <a:spcPts val="0"/>
              </a:spcBef>
              <a:spcAft>
                <a:spcPts val="0"/>
              </a:spcAft>
              <a:buNone/>
            </a:pPr>
            <a:r>
              <a:t/>
            </a:r>
            <a:endParaRPr/>
          </a:p>
        </p:txBody>
      </p:sp>
      <p:sp>
        <p:nvSpPr>
          <p:cNvPr id="142" name="Google Shape;142;p22"/>
          <p:cNvSpPr txBox="1"/>
          <p:nvPr>
            <p:ph idx="1" type="body"/>
          </p:nvPr>
        </p:nvSpPr>
        <p:spPr>
          <a:xfrm>
            <a:off x="5233650" y="1049575"/>
            <a:ext cx="3910500" cy="12588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s-419" sz="1400"/>
              <a:t>Findings:</a:t>
            </a:r>
            <a:endParaRPr sz="1400"/>
          </a:p>
          <a:p>
            <a:pPr indent="-304800" lvl="0" marL="457200" rtl="0" algn="l">
              <a:spcBef>
                <a:spcPts val="1200"/>
              </a:spcBef>
              <a:spcAft>
                <a:spcPts val="0"/>
              </a:spcAft>
              <a:buSzPts val="1200"/>
              <a:buChar char="●"/>
            </a:pPr>
            <a:r>
              <a:rPr lang="es-419" sz="1200"/>
              <a:t>More steps generally lead to higher daily calories burned.</a:t>
            </a:r>
            <a:endParaRPr sz="1200"/>
          </a:p>
          <a:p>
            <a:pPr indent="-304800" lvl="0" marL="457200" rtl="0" algn="l">
              <a:spcBef>
                <a:spcPts val="0"/>
              </a:spcBef>
              <a:spcAft>
                <a:spcPts val="0"/>
              </a:spcAft>
              <a:buSzPts val="1200"/>
              <a:buChar char="●"/>
            </a:pPr>
            <a:r>
              <a:rPr lang="es-419" sz="1200"/>
              <a:t>Most records fall between 0–17,000 steps per day</a:t>
            </a:r>
            <a:endParaRPr sz="1200"/>
          </a:p>
          <a:p>
            <a:pPr indent="-304800" lvl="0" marL="457200" rtl="0" algn="l">
              <a:spcBef>
                <a:spcPts val="0"/>
              </a:spcBef>
              <a:spcAft>
                <a:spcPts val="0"/>
              </a:spcAft>
              <a:buSzPts val="1200"/>
              <a:buChar char="●"/>
            </a:pPr>
            <a:r>
              <a:rPr lang="es-419" sz="1200"/>
              <a:t>Daily calories burned mostly between 1,000–4,000 kcal.</a:t>
            </a:r>
            <a:endParaRPr sz="1200"/>
          </a:p>
          <a:p>
            <a:pPr indent="-304800" lvl="0" marL="457200" rtl="0" algn="l">
              <a:spcBef>
                <a:spcPts val="0"/>
              </a:spcBef>
              <a:spcAft>
                <a:spcPts val="0"/>
              </a:spcAft>
              <a:buSzPts val="1200"/>
              <a:buChar char="●"/>
            </a:pPr>
            <a:r>
              <a:rPr lang="es-419" sz="1200"/>
              <a:t>Pearson’s r = 0.54, indicating a moderate positive relationship.</a:t>
            </a:r>
            <a:endParaRPr sz="1200"/>
          </a:p>
          <a:p>
            <a:pPr indent="-304800" lvl="0" marL="457200" rtl="0" algn="l">
              <a:spcBef>
                <a:spcPts val="0"/>
              </a:spcBef>
              <a:spcAft>
                <a:spcPts val="0"/>
              </a:spcAft>
              <a:buSzPts val="1200"/>
              <a:buChar char="●"/>
            </a:pPr>
            <a:r>
              <a:rPr lang="es-419" sz="1200"/>
              <a:t>Other factors matter: Exercise type, intensity, and individual metabolism</a:t>
            </a:r>
            <a:endParaRPr sz="1200"/>
          </a:p>
        </p:txBody>
      </p:sp>
      <p:sp>
        <p:nvSpPr>
          <p:cNvPr id="143" name="Google Shape;143;p22"/>
          <p:cNvSpPr txBox="1"/>
          <p:nvPr>
            <p:ph idx="1" type="body"/>
          </p:nvPr>
        </p:nvSpPr>
        <p:spPr>
          <a:xfrm>
            <a:off x="5341400" y="35642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Recommend:</a:t>
            </a:r>
            <a:endParaRPr sz="1400"/>
          </a:p>
          <a:p>
            <a:pPr indent="-304800" lvl="0" marL="457200" rtl="0" algn="l">
              <a:spcBef>
                <a:spcPts val="1200"/>
              </a:spcBef>
              <a:spcAft>
                <a:spcPts val="0"/>
              </a:spcAft>
              <a:buSzPts val="1200"/>
              <a:buChar char="●"/>
            </a:pPr>
            <a:r>
              <a:rPr lang="es-419" sz="1200"/>
              <a:t>Step-based challenges</a:t>
            </a:r>
            <a:r>
              <a:rPr lang="es-419" sz="1200"/>
              <a:t> </a:t>
            </a:r>
            <a:endParaRPr sz="1200"/>
          </a:p>
          <a:p>
            <a:pPr indent="-304800" lvl="0" marL="457200" rtl="0" algn="l">
              <a:spcBef>
                <a:spcPts val="0"/>
              </a:spcBef>
              <a:spcAft>
                <a:spcPts val="0"/>
              </a:spcAft>
              <a:buSzPts val="1200"/>
              <a:buChar char="●"/>
            </a:pPr>
            <a:r>
              <a:rPr lang="es-419" sz="1200"/>
              <a:t>Recommend exercises (like yoga or weightlifting) for low-step days to maintain calorie burn.</a:t>
            </a:r>
            <a:endParaRPr sz="1200"/>
          </a:p>
          <a:p>
            <a:pPr indent="0" lvl="0" marL="0" rtl="0" algn="l">
              <a:spcBef>
                <a:spcPts val="1200"/>
              </a:spcBef>
              <a:spcAft>
                <a:spcPts val="0"/>
              </a:spcAft>
              <a:buNone/>
            </a:pPr>
            <a:r>
              <a:t/>
            </a:r>
            <a:endParaRPr sz="1200"/>
          </a:p>
          <a:p>
            <a:pPr indent="0" lvl="0" marL="457200" rtl="0" algn="l">
              <a:spcBef>
                <a:spcPts val="1200"/>
              </a:spcBef>
              <a:spcAft>
                <a:spcPts val="1200"/>
              </a:spcAft>
              <a:buNone/>
            </a:pPr>
            <a:r>
              <a:t/>
            </a:r>
            <a:endParaRPr sz="1200"/>
          </a:p>
        </p:txBody>
      </p:sp>
      <p:sp>
        <p:nvSpPr>
          <p:cNvPr id="144" name="Google Shape;144;p22"/>
          <p:cNvSpPr txBox="1"/>
          <p:nvPr>
            <p:ph idx="1" type="body"/>
          </p:nvPr>
        </p:nvSpPr>
        <p:spPr>
          <a:xfrm>
            <a:off x="113400" y="4245450"/>
            <a:ext cx="4909500" cy="268200"/>
          </a:xfrm>
          <a:prstGeom prst="rect">
            <a:avLst/>
          </a:prstGeom>
        </p:spPr>
        <p:txBody>
          <a:bodyPr anchorCtr="0" anchor="t" bIns="0" lIns="91425" spcFirstLastPara="1" rIns="91425" wrap="square" tIns="0">
            <a:noAutofit/>
          </a:bodyPr>
          <a:lstStyle/>
          <a:p>
            <a:pPr indent="0" lvl="0" marL="0" rtl="0" algn="just">
              <a:spcBef>
                <a:spcPts val="0"/>
              </a:spcBef>
              <a:spcAft>
                <a:spcPts val="1200"/>
              </a:spcAft>
              <a:buNone/>
            </a:pPr>
            <a:r>
              <a:rPr i="1" lang="es-419" sz="1000"/>
              <a:t>Figure 6.-</a:t>
            </a:r>
            <a:r>
              <a:rPr lang="es-419" sz="1000"/>
              <a:t> </a:t>
            </a:r>
            <a:r>
              <a:rPr lang="es-419" sz="1000"/>
              <a:t>The scatter plot shows the relationship between the total daily steps and the burned calories. The blue dots represent the registers for each user, the red line represents the linear model, and the grey shadow represents the confidence interval of the linear model.</a:t>
            </a:r>
            <a:endParaRPr sz="1000"/>
          </a:p>
        </p:txBody>
      </p:sp>
      <p:pic>
        <p:nvPicPr>
          <p:cNvPr id="145" name="Google Shape;145;p22"/>
          <p:cNvPicPr preferRelativeResize="0"/>
          <p:nvPr/>
        </p:nvPicPr>
        <p:blipFill>
          <a:blip r:embed="rId3">
            <a:alphaModFix/>
          </a:blip>
          <a:stretch>
            <a:fillRect/>
          </a:stretch>
        </p:blipFill>
        <p:spPr>
          <a:xfrm>
            <a:off x="239150" y="1049575"/>
            <a:ext cx="4473784" cy="31958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175375" y="93900"/>
            <a:ext cx="85206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Analysis 7: Comparison between average steps on weekends vs weekdays </a:t>
            </a:r>
            <a:endParaRPr/>
          </a:p>
          <a:p>
            <a:pPr indent="0" lvl="0" marL="0" rtl="0" algn="ctr">
              <a:spcBef>
                <a:spcPts val="0"/>
              </a:spcBef>
              <a:spcAft>
                <a:spcPts val="0"/>
              </a:spcAft>
              <a:buNone/>
            </a:pPr>
            <a:r>
              <a:t/>
            </a:r>
            <a:endParaRPr/>
          </a:p>
        </p:txBody>
      </p:sp>
      <p:sp>
        <p:nvSpPr>
          <p:cNvPr id="151" name="Google Shape;151;p23"/>
          <p:cNvSpPr txBox="1"/>
          <p:nvPr>
            <p:ph idx="1" type="body"/>
          </p:nvPr>
        </p:nvSpPr>
        <p:spPr>
          <a:xfrm>
            <a:off x="5265625" y="11270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Findings:</a:t>
            </a:r>
            <a:endParaRPr sz="1400"/>
          </a:p>
          <a:p>
            <a:pPr indent="-304800" lvl="0" marL="457200" rtl="0" algn="l">
              <a:spcBef>
                <a:spcPts val="1200"/>
              </a:spcBef>
              <a:spcAft>
                <a:spcPts val="0"/>
              </a:spcAft>
              <a:buSzPts val="1200"/>
              <a:buChar char="●"/>
            </a:pPr>
            <a:r>
              <a:rPr lang="es-419" sz="1200"/>
              <a:t>Slightly higher weekday steps.</a:t>
            </a:r>
            <a:endParaRPr sz="1200"/>
          </a:p>
          <a:p>
            <a:pPr indent="-304800" lvl="0" marL="457200" rtl="0" algn="l">
              <a:spcBef>
                <a:spcPts val="0"/>
              </a:spcBef>
              <a:spcAft>
                <a:spcPts val="0"/>
              </a:spcAft>
              <a:buSzPts val="1200"/>
              <a:buChar char="●"/>
            </a:pPr>
            <a:r>
              <a:rPr lang="es-419" sz="1200"/>
              <a:t>374 steps difference, not statistically significant.</a:t>
            </a:r>
            <a:endParaRPr sz="1200"/>
          </a:p>
          <a:p>
            <a:pPr indent="-304800" lvl="0" marL="457200" rtl="0" algn="l">
              <a:spcBef>
                <a:spcPts val="0"/>
              </a:spcBef>
              <a:spcAft>
                <a:spcPts val="0"/>
              </a:spcAft>
              <a:buSzPts val="1200"/>
              <a:buChar char="●"/>
            </a:pPr>
            <a:r>
              <a:rPr lang="es-419" sz="1200"/>
              <a:t>Variation between users explains the minor difference.</a:t>
            </a:r>
            <a:endParaRPr sz="1200"/>
          </a:p>
          <a:p>
            <a:pPr indent="-304800" lvl="0" marL="457200" rtl="0" algn="l">
              <a:spcBef>
                <a:spcPts val="0"/>
              </a:spcBef>
              <a:spcAft>
                <a:spcPts val="0"/>
              </a:spcAft>
              <a:buSzPts val="1200"/>
              <a:buChar char="●"/>
            </a:pPr>
            <a:r>
              <a:rPr lang="es-419" sz="1200"/>
              <a:t>Differences are mainly due to personal activity habits.</a:t>
            </a:r>
            <a:endParaRPr sz="1200"/>
          </a:p>
        </p:txBody>
      </p:sp>
      <p:sp>
        <p:nvSpPr>
          <p:cNvPr id="152" name="Google Shape;152;p23"/>
          <p:cNvSpPr txBox="1"/>
          <p:nvPr>
            <p:ph idx="1" type="body"/>
          </p:nvPr>
        </p:nvSpPr>
        <p:spPr>
          <a:xfrm>
            <a:off x="5265625" y="307340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Recommend strategies:</a:t>
            </a:r>
            <a:endParaRPr sz="1400"/>
          </a:p>
          <a:p>
            <a:pPr indent="-304800" lvl="0" marL="457200" rtl="0" algn="l">
              <a:spcBef>
                <a:spcPts val="1200"/>
              </a:spcBef>
              <a:spcAft>
                <a:spcPts val="0"/>
              </a:spcAft>
              <a:buSzPts val="1200"/>
              <a:buChar char="●"/>
            </a:pPr>
            <a:r>
              <a:rPr lang="es-419" sz="1200"/>
              <a:t>Suggest personalized step targets considering small differences between weekdays and weekends.</a:t>
            </a:r>
            <a:endParaRPr sz="1200"/>
          </a:p>
          <a:p>
            <a:pPr indent="-304800" lvl="0" marL="457200" rtl="0" algn="l">
              <a:spcBef>
                <a:spcPts val="0"/>
              </a:spcBef>
              <a:spcAft>
                <a:spcPts val="0"/>
              </a:spcAft>
              <a:buSzPts val="1200"/>
              <a:buChar char="●"/>
            </a:pPr>
            <a:r>
              <a:rPr lang="es-419" sz="1200"/>
              <a:t>Weekend motivation tips.</a:t>
            </a:r>
            <a:endParaRPr sz="1200"/>
          </a:p>
          <a:p>
            <a:pPr indent="-304800" lvl="0" marL="457200" rtl="0" algn="l">
              <a:spcBef>
                <a:spcPts val="0"/>
              </a:spcBef>
              <a:spcAft>
                <a:spcPts val="0"/>
              </a:spcAft>
              <a:buSzPts val="1200"/>
              <a:buChar char="●"/>
            </a:pPr>
            <a:r>
              <a:rPr lang="es-419" sz="1200"/>
              <a:t>Progress tracking &amp; comparison.</a:t>
            </a:r>
            <a:endParaRPr sz="1200"/>
          </a:p>
          <a:p>
            <a:pPr indent="0" lvl="0" marL="457200" rtl="0" algn="l">
              <a:spcBef>
                <a:spcPts val="1200"/>
              </a:spcBef>
              <a:spcAft>
                <a:spcPts val="1200"/>
              </a:spcAft>
              <a:buNone/>
            </a:pPr>
            <a:r>
              <a:t/>
            </a:r>
            <a:endParaRPr sz="1200"/>
          </a:p>
        </p:txBody>
      </p:sp>
      <p:sp>
        <p:nvSpPr>
          <p:cNvPr id="153" name="Google Shape;153;p23"/>
          <p:cNvSpPr txBox="1"/>
          <p:nvPr>
            <p:ph idx="1" type="body"/>
          </p:nvPr>
        </p:nvSpPr>
        <p:spPr>
          <a:xfrm>
            <a:off x="113400" y="4245450"/>
            <a:ext cx="4909500" cy="268200"/>
          </a:xfrm>
          <a:prstGeom prst="rect">
            <a:avLst/>
          </a:prstGeom>
        </p:spPr>
        <p:txBody>
          <a:bodyPr anchorCtr="0" anchor="t" bIns="0" lIns="91425" spcFirstLastPara="1" rIns="91425" wrap="square" tIns="0">
            <a:noAutofit/>
          </a:bodyPr>
          <a:lstStyle/>
          <a:p>
            <a:pPr indent="0" lvl="0" marL="0" rtl="0" algn="just">
              <a:spcBef>
                <a:spcPts val="0"/>
              </a:spcBef>
              <a:spcAft>
                <a:spcPts val="1200"/>
              </a:spcAft>
              <a:buNone/>
            </a:pPr>
            <a:r>
              <a:rPr i="1" lang="es-419" sz="1000"/>
              <a:t>Figure 7.-</a:t>
            </a:r>
            <a:r>
              <a:rPr lang="es-419" sz="1000"/>
              <a:t> </a:t>
            </a:r>
            <a:r>
              <a:rPr lang="es-419" sz="1000"/>
              <a:t>The graph shows the total average of steps per user during weekdays and weekends. The bars represent the daily average of days per type of day, and the black lines represent the standard error.</a:t>
            </a:r>
            <a:endParaRPr sz="1000"/>
          </a:p>
        </p:txBody>
      </p:sp>
      <p:pic>
        <p:nvPicPr>
          <p:cNvPr id="154" name="Google Shape;154;p23"/>
          <p:cNvPicPr preferRelativeResize="0"/>
          <p:nvPr/>
        </p:nvPicPr>
        <p:blipFill>
          <a:blip r:embed="rId3">
            <a:alphaModFix/>
          </a:blip>
          <a:stretch>
            <a:fillRect/>
          </a:stretch>
        </p:blipFill>
        <p:spPr>
          <a:xfrm>
            <a:off x="175375" y="1024800"/>
            <a:ext cx="4508467" cy="32206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113400" y="0"/>
            <a:ext cx="87480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Analysis 8:  Classification by type of day and activity profile</a:t>
            </a:r>
            <a:endParaRPr/>
          </a:p>
        </p:txBody>
      </p:sp>
      <p:sp>
        <p:nvSpPr>
          <p:cNvPr id="160" name="Google Shape;160;p24"/>
          <p:cNvSpPr txBox="1"/>
          <p:nvPr>
            <p:ph idx="1" type="body"/>
          </p:nvPr>
        </p:nvSpPr>
        <p:spPr>
          <a:xfrm>
            <a:off x="5374675" y="81720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Findings:</a:t>
            </a:r>
            <a:endParaRPr sz="1400"/>
          </a:p>
          <a:p>
            <a:pPr indent="-304800" lvl="0" marL="457200" rtl="0" algn="l">
              <a:spcBef>
                <a:spcPts val="1200"/>
              </a:spcBef>
              <a:spcAft>
                <a:spcPts val="0"/>
              </a:spcAft>
              <a:buSzPts val="1200"/>
              <a:buChar char="●"/>
            </a:pPr>
            <a:r>
              <a:rPr lang="es-419" sz="1200"/>
              <a:t>Highest percentage of users are in high active distance profile (48.4% weekdays, 40.5% weekends).</a:t>
            </a:r>
            <a:endParaRPr sz="1200"/>
          </a:p>
          <a:p>
            <a:pPr indent="-304800" lvl="0" marL="457200" rtl="0" algn="l">
              <a:spcBef>
                <a:spcPts val="0"/>
              </a:spcBef>
              <a:spcAft>
                <a:spcPts val="0"/>
              </a:spcAft>
              <a:buSzPts val="1200"/>
              <a:buChar char="●"/>
            </a:pPr>
            <a:r>
              <a:rPr lang="es-419" sz="1200"/>
              <a:t>Sedentary profile is higher on weekdays.</a:t>
            </a:r>
            <a:endParaRPr sz="1200"/>
          </a:p>
          <a:p>
            <a:pPr indent="-304800" lvl="0" marL="457200" rtl="0" algn="l">
              <a:spcBef>
                <a:spcPts val="0"/>
              </a:spcBef>
              <a:spcAft>
                <a:spcPts val="0"/>
              </a:spcAft>
              <a:buSzPts val="1200"/>
              <a:buChar char="●"/>
            </a:pPr>
            <a:r>
              <a:rPr lang="es-419" sz="1200"/>
              <a:t>Structured weekday schedules increase sedentary time; weekends show more variability in movement.</a:t>
            </a:r>
            <a:endParaRPr sz="1200"/>
          </a:p>
        </p:txBody>
      </p:sp>
      <p:sp>
        <p:nvSpPr>
          <p:cNvPr id="161" name="Google Shape;161;p24"/>
          <p:cNvSpPr txBox="1"/>
          <p:nvPr>
            <p:ph idx="1" type="body"/>
          </p:nvPr>
        </p:nvSpPr>
        <p:spPr>
          <a:xfrm>
            <a:off x="5374675" y="2775950"/>
            <a:ext cx="35958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Recommend strategies:</a:t>
            </a:r>
            <a:endParaRPr sz="1400"/>
          </a:p>
          <a:p>
            <a:pPr indent="-304800" lvl="0" marL="457200" rtl="0" algn="l">
              <a:spcBef>
                <a:spcPts val="1200"/>
              </a:spcBef>
              <a:spcAft>
                <a:spcPts val="0"/>
              </a:spcAft>
              <a:buSzPts val="1200"/>
              <a:buChar char="●"/>
            </a:pPr>
            <a:r>
              <a:rPr lang="es-419" sz="1200"/>
              <a:t>Encourage movement breaks or short walks for sedentary users during workdays.</a:t>
            </a:r>
            <a:endParaRPr sz="1200"/>
          </a:p>
          <a:p>
            <a:pPr indent="-304800" lvl="0" marL="457200" rtl="0" algn="l">
              <a:spcBef>
                <a:spcPts val="0"/>
              </a:spcBef>
              <a:spcAft>
                <a:spcPts val="0"/>
              </a:spcAft>
              <a:buSzPts val="1200"/>
              <a:buChar char="●"/>
            </a:pPr>
            <a:r>
              <a:rPr lang="es-419" sz="1200"/>
              <a:t>Reward users who maintain or improve activity levels across both weekdays and weekends.</a:t>
            </a:r>
            <a:endParaRPr sz="1200"/>
          </a:p>
          <a:p>
            <a:pPr indent="-304800" lvl="0" marL="457200" rtl="0" algn="l">
              <a:spcBef>
                <a:spcPts val="0"/>
              </a:spcBef>
              <a:spcAft>
                <a:spcPts val="0"/>
              </a:spcAft>
              <a:buSzPts val="1200"/>
              <a:buChar char="●"/>
            </a:pPr>
            <a:r>
              <a:rPr lang="es-419" sz="1200"/>
              <a:t>Routine-based reminders</a:t>
            </a:r>
            <a:endParaRPr sz="1200"/>
          </a:p>
          <a:p>
            <a:pPr indent="0" lvl="0" marL="457200" rtl="0" algn="l">
              <a:spcBef>
                <a:spcPts val="1200"/>
              </a:spcBef>
              <a:spcAft>
                <a:spcPts val="1200"/>
              </a:spcAft>
              <a:buNone/>
            </a:pPr>
            <a:r>
              <a:t/>
            </a:r>
            <a:endParaRPr sz="1200"/>
          </a:p>
        </p:txBody>
      </p:sp>
      <p:sp>
        <p:nvSpPr>
          <p:cNvPr id="162" name="Google Shape;162;p24"/>
          <p:cNvSpPr txBox="1"/>
          <p:nvPr>
            <p:ph idx="1" type="body"/>
          </p:nvPr>
        </p:nvSpPr>
        <p:spPr>
          <a:xfrm>
            <a:off x="113400" y="4245450"/>
            <a:ext cx="4909500" cy="268200"/>
          </a:xfrm>
          <a:prstGeom prst="rect">
            <a:avLst/>
          </a:prstGeom>
        </p:spPr>
        <p:txBody>
          <a:bodyPr anchorCtr="0" anchor="t" bIns="0" lIns="91425" spcFirstLastPara="1" rIns="91425" wrap="square" tIns="0">
            <a:noAutofit/>
          </a:bodyPr>
          <a:lstStyle/>
          <a:p>
            <a:pPr indent="0" lvl="0" marL="0" rtl="0" algn="just">
              <a:spcBef>
                <a:spcPts val="0"/>
              </a:spcBef>
              <a:spcAft>
                <a:spcPts val="1200"/>
              </a:spcAft>
              <a:buNone/>
            </a:pPr>
            <a:r>
              <a:rPr i="1" lang="es-419" sz="1000"/>
              <a:t>Figure 8.-</a:t>
            </a:r>
            <a:r>
              <a:rPr lang="es-419" sz="1000"/>
              <a:t> </a:t>
            </a:r>
            <a:r>
              <a:rPr lang="es-419" sz="1000"/>
              <a:t>The percentage distribution of the mobility categories in distance based on the type of day (weekday and weekend).</a:t>
            </a:r>
            <a:endParaRPr sz="1000"/>
          </a:p>
        </p:txBody>
      </p:sp>
      <p:pic>
        <p:nvPicPr>
          <p:cNvPr id="163" name="Google Shape;163;p24"/>
          <p:cNvPicPr preferRelativeResize="0"/>
          <p:nvPr/>
        </p:nvPicPr>
        <p:blipFill>
          <a:blip r:embed="rId3">
            <a:alphaModFix/>
          </a:blip>
          <a:stretch>
            <a:fillRect/>
          </a:stretch>
        </p:blipFill>
        <p:spPr>
          <a:xfrm>
            <a:off x="248188" y="914475"/>
            <a:ext cx="4639913" cy="33145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113400" y="9390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Key Insights from the Dataset</a:t>
            </a:r>
            <a:endParaRPr/>
          </a:p>
        </p:txBody>
      </p:sp>
      <p:grpSp>
        <p:nvGrpSpPr>
          <p:cNvPr id="169" name="Google Shape;169;p25"/>
          <p:cNvGrpSpPr/>
          <p:nvPr/>
        </p:nvGrpSpPr>
        <p:grpSpPr>
          <a:xfrm>
            <a:off x="362850" y="827650"/>
            <a:ext cx="2292776" cy="1994501"/>
            <a:chOff x="263700" y="720000"/>
            <a:chExt cx="2292776" cy="1994501"/>
          </a:xfrm>
        </p:grpSpPr>
        <p:sp>
          <p:nvSpPr>
            <p:cNvPr id="170" name="Google Shape;170;p25"/>
            <p:cNvSpPr/>
            <p:nvPr/>
          </p:nvSpPr>
          <p:spPr>
            <a:xfrm>
              <a:off x="263700" y="720000"/>
              <a:ext cx="2020200" cy="1462500"/>
            </a:xfrm>
            <a:prstGeom prst="roundRect">
              <a:avLst>
                <a:gd fmla="val 16667" name="adj"/>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a:solidFill>
                    <a:schemeClr val="lt1"/>
                  </a:solidFill>
                  <a:latin typeface="Lato"/>
                  <a:ea typeface="Lato"/>
                  <a:cs typeface="Lato"/>
                  <a:sym typeface="Lato"/>
                </a:rPr>
                <a:t>Highly adherent users: 93% of days show high or very high usage.</a:t>
              </a:r>
              <a:endParaRPr>
                <a:solidFill>
                  <a:schemeClr val="lt1"/>
                </a:solidFill>
                <a:latin typeface="Lato"/>
                <a:ea typeface="Lato"/>
                <a:cs typeface="Lato"/>
                <a:sym typeface="Lato"/>
              </a:endParaRPr>
            </a:p>
          </p:txBody>
        </p:sp>
        <p:pic>
          <p:nvPicPr>
            <p:cNvPr id="171" name="Google Shape;171;p25"/>
            <p:cNvPicPr preferRelativeResize="0"/>
            <p:nvPr/>
          </p:nvPicPr>
          <p:blipFill>
            <a:blip r:embed="rId3">
              <a:alphaModFix/>
            </a:blip>
            <a:stretch>
              <a:fillRect/>
            </a:stretch>
          </p:blipFill>
          <p:spPr>
            <a:xfrm>
              <a:off x="1678800" y="1836825"/>
              <a:ext cx="877676" cy="877676"/>
            </a:xfrm>
            <a:prstGeom prst="rect">
              <a:avLst/>
            </a:prstGeom>
            <a:noFill/>
            <a:ln>
              <a:noFill/>
            </a:ln>
          </p:spPr>
        </p:pic>
      </p:grpSp>
      <p:grpSp>
        <p:nvGrpSpPr>
          <p:cNvPr id="172" name="Google Shape;172;p25"/>
          <p:cNvGrpSpPr/>
          <p:nvPr/>
        </p:nvGrpSpPr>
        <p:grpSpPr>
          <a:xfrm>
            <a:off x="3502175" y="720000"/>
            <a:ext cx="2425550" cy="1994501"/>
            <a:chOff x="2721350" y="720000"/>
            <a:chExt cx="2425550" cy="1994501"/>
          </a:xfrm>
        </p:grpSpPr>
        <p:sp>
          <p:nvSpPr>
            <p:cNvPr id="173" name="Google Shape;173;p25"/>
            <p:cNvSpPr/>
            <p:nvPr/>
          </p:nvSpPr>
          <p:spPr>
            <a:xfrm>
              <a:off x="2721350" y="720000"/>
              <a:ext cx="2020200" cy="1462500"/>
            </a:xfrm>
            <a:prstGeom prst="roundRect">
              <a:avLst>
                <a:gd fmla="val 16667" name="adj"/>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a:solidFill>
                    <a:schemeClr val="lt1"/>
                  </a:solidFill>
                  <a:latin typeface="Lato"/>
                  <a:ea typeface="Lato"/>
                  <a:cs typeface="Lato"/>
                  <a:sym typeface="Lato"/>
                </a:rPr>
                <a:t>Consistent usage: Most users log 8–11 days; few dropouts.</a:t>
              </a:r>
              <a:endParaRPr>
                <a:solidFill>
                  <a:schemeClr val="lt1"/>
                </a:solidFill>
                <a:latin typeface="Lato"/>
                <a:ea typeface="Lato"/>
                <a:cs typeface="Lato"/>
                <a:sym typeface="Lato"/>
              </a:endParaRPr>
            </a:p>
          </p:txBody>
        </p:sp>
        <p:pic>
          <p:nvPicPr>
            <p:cNvPr id="174" name="Google Shape;174;p25"/>
            <p:cNvPicPr preferRelativeResize="0"/>
            <p:nvPr/>
          </p:nvPicPr>
          <p:blipFill>
            <a:blip r:embed="rId4">
              <a:alphaModFix/>
            </a:blip>
            <a:stretch>
              <a:fillRect/>
            </a:stretch>
          </p:blipFill>
          <p:spPr>
            <a:xfrm>
              <a:off x="4269225" y="1836825"/>
              <a:ext cx="877676" cy="877676"/>
            </a:xfrm>
            <a:prstGeom prst="rect">
              <a:avLst/>
            </a:prstGeom>
            <a:noFill/>
            <a:ln>
              <a:noFill/>
            </a:ln>
          </p:spPr>
        </p:pic>
      </p:grpSp>
      <p:grpSp>
        <p:nvGrpSpPr>
          <p:cNvPr id="175" name="Google Shape;175;p25"/>
          <p:cNvGrpSpPr/>
          <p:nvPr/>
        </p:nvGrpSpPr>
        <p:grpSpPr>
          <a:xfrm>
            <a:off x="6443200" y="791375"/>
            <a:ext cx="2434301" cy="1851751"/>
            <a:chOff x="5179000" y="720000"/>
            <a:chExt cx="2434301" cy="1851751"/>
          </a:xfrm>
        </p:grpSpPr>
        <p:sp>
          <p:nvSpPr>
            <p:cNvPr id="176" name="Google Shape;176;p25"/>
            <p:cNvSpPr/>
            <p:nvPr/>
          </p:nvSpPr>
          <p:spPr>
            <a:xfrm>
              <a:off x="5179000" y="720000"/>
              <a:ext cx="2020200" cy="1462500"/>
            </a:xfrm>
            <a:prstGeom prst="roundRect">
              <a:avLst>
                <a:gd fmla="val 16667" name="adj"/>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a:solidFill>
                    <a:schemeClr val="lt1"/>
                  </a:solidFill>
                  <a:latin typeface="Lato"/>
                  <a:ea typeface="Lato"/>
                  <a:cs typeface="Lato"/>
                  <a:sym typeface="Lato"/>
                </a:rPr>
                <a:t>Stable activity: Steps similar on weekdays vs weekends; more variability on weekends.</a:t>
              </a:r>
              <a:endParaRPr>
                <a:solidFill>
                  <a:schemeClr val="lt1"/>
                </a:solidFill>
                <a:latin typeface="Lato"/>
                <a:ea typeface="Lato"/>
                <a:cs typeface="Lato"/>
                <a:sym typeface="Lato"/>
              </a:endParaRPr>
            </a:p>
          </p:txBody>
        </p:sp>
        <p:pic>
          <p:nvPicPr>
            <p:cNvPr id="177" name="Google Shape;177;p25"/>
            <p:cNvPicPr preferRelativeResize="0"/>
            <p:nvPr/>
          </p:nvPicPr>
          <p:blipFill>
            <a:blip r:embed="rId5">
              <a:alphaModFix/>
            </a:blip>
            <a:stretch>
              <a:fillRect/>
            </a:stretch>
          </p:blipFill>
          <p:spPr>
            <a:xfrm>
              <a:off x="6735625" y="1694075"/>
              <a:ext cx="877676" cy="877676"/>
            </a:xfrm>
            <a:prstGeom prst="rect">
              <a:avLst/>
            </a:prstGeom>
            <a:noFill/>
            <a:ln>
              <a:noFill/>
            </a:ln>
          </p:spPr>
        </p:pic>
      </p:grpSp>
      <p:grpSp>
        <p:nvGrpSpPr>
          <p:cNvPr id="178" name="Google Shape;178;p25"/>
          <p:cNvGrpSpPr/>
          <p:nvPr/>
        </p:nvGrpSpPr>
        <p:grpSpPr>
          <a:xfrm>
            <a:off x="1726175" y="2929800"/>
            <a:ext cx="2292775" cy="1962150"/>
            <a:chOff x="263700" y="2929800"/>
            <a:chExt cx="2292775" cy="1962150"/>
          </a:xfrm>
        </p:grpSpPr>
        <p:sp>
          <p:nvSpPr>
            <p:cNvPr id="179" name="Google Shape;179;p25"/>
            <p:cNvSpPr/>
            <p:nvPr/>
          </p:nvSpPr>
          <p:spPr>
            <a:xfrm>
              <a:off x="263700" y="2929800"/>
              <a:ext cx="2020200" cy="1462500"/>
            </a:xfrm>
            <a:prstGeom prst="roundRect">
              <a:avLst>
                <a:gd fmla="val 16667" name="adj"/>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a:solidFill>
                    <a:schemeClr val="lt1"/>
                  </a:solidFill>
                  <a:latin typeface="Lato"/>
                  <a:ea typeface="Lato"/>
                  <a:cs typeface="Lato"/>
                  <a:sym typeface="Lato"/>
                </a:rPr>
                <a:t>Predominantly high mobility: ≈45% of users have a high activity profile.</a:t>
              </a:r>
              <a:endParaRPr>
                <a:solidFill>
                  <a:schemeClr val="lt1"/>
                </a:solidFill>
                <a:latin typeface="Lato"/>
                <a:ea typeface="Lato"/>
                <a:cs typeface="Lato"/>
                <a:sym typeface="Lato"/>
              </a:endParaRPr>
            </a:p>
          </p:txBody>
        </p:sp>
        <p:pic>
          <p:nvPicPr>
            <p:cNvPr id="180" name="Google Shape;180;p25"/>
            <p:cNvPicPr preferRelativeResize="0"/>
            <p:nvPr/>
          </p:nvPicPr>
          <p:blipFill>
            <a:blip r:embed="rId6">
              <a:alphaModFix/>
            </a:blip>
            <a:stretch>
              <a:fillRect/>
            </a:stretch>
          </p:blipFill>
          <p:spPr>
            <a:xfrm>
              <a:off x="1426650" y="3762125"/>
              <a:ext cx="1129825" cy="1129825"/>
            </a:xfrm>
            <a:prstGeom prst="rect">
              <a:avLst/>
            </a:prstGeom>
            <a:noFill/>
            <a:ln>
              <a:noFill/>
            </a:ln>
          </p:spPr>
        </p:pic>
      </p:grpSp>
      <p:grpSp>
        <p:nvGrpSpPr>
          <p:cNvPr id="181" name="Google Shape;181;p25"/>
          <p:cNvGrpSpPr/>
          <p:nvPr/>
        </p:nvGrpSpPr>
        <p:grpSpPr>
          <a:xfrm>
            <a:off x="5336450" y="2929800"/>
            <a:ext cx="2245412" cy="1791999"/>
            <a:chOff x="2721350" y="2929800"/>
            <a:chExt cx="2245412" cy="1791999"/>
          </a:xfrm>
        </p:grpSpPr>
        <p:sp>
          <p:nvSpPr>
            <p:cNvPr id="182" name="Google Shape;182;p25"/>
            <p:cNvSpPr/>
            <p:nvPr/>
          </p:nvSpPr>
          <p:spPr>
            <a:xfrm>
              <a:off x="2721350" y="2929800"/>
              <a:ext cx="2020200" cy="1462500"/>
            </a:xfrm>
            <a:prstGeom prst="roundRect">
              <a:avLst>
                <a:gd fmla="val 16667" name="adj"/>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a:solidFill>
                    <a:schemeClr val="lt1"/>
                  </a:solidFill>
                  <a:latin typeface="Lato"/>
                  <a:ea typeface="Lato"/>
                  <a:cs typeface="Lato"/>
                  <a:sym typeface="Lato"/>
                </a:rPr>
                <a:t>More records → higher adherence: Daily logging improves consistency.</a:t>
              </a:r>
              <a:endParaRPr>
                <a:solidFill>
                  <a:schemeClr val="lt1"/>
                </a:solidFill>
                <a:latin typeface="Lato"/>
                <a:ea typeface="Lato"/>
                <a:cs typeface="Lato"/>
                <a:sym typeface="Lato"/>
              </a:endParaRPr>
            </a:p>
          </p:txBody>
        </p:sp>
        <p:pic>
          <p:nvPicPr>
            <p:cNvPr id="183" name="Google Shape;183;p25"/>
            <p:cNvPicPr preferRelativeResize="0"/>
            <p:nvPr/>
          </p:nvPicPr>
          <p:blipFill>
            <a:blip r:embed="rId7">
              <a:alphaModFix/>
            </a:blip>
            <a:stretch>
              <a:fillRect/>
            </a:stretch>
          </p:blipFill>
          <p:spPr>
            <a:xfrm>
              <a:off x="4177238" y="3932275"/>
              <a:ext cx="789524" cy="789524"/>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3298100" y="1809325"/>
            <a:ext cx="28521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¡Thanks for your attention!</a:t>
            </a:r>
            <a:endParaRPr/>
          </a:p>
        </p:txBody>
      </p:sp>
      <p:pic>
        <p:nvPicPr>
          <p:cNvPr id="189" name="Google Shape;189;p26"/>
          <p:cNvPicPr preferRelativeResize="0"/>
          <p:nvPr/>
        </p:nvPicPr>
        <p:blipFill rotWithShape="1">
          <a:blip r:embed="rId3">
            <a:alphaModFix/>
          </a:blip>
          <a:srcRect b="24327" l="0" r="0" t="12071"/>
          <a:stretch/>
        </p:blipFill>
        <p:spPr>
          <a:xfrm>
            <a:off x="632075" y="143100"/>
            <a:ext cx="2601900" cy="2206475"/>
          </a:xfrm>
          <a:prstGeom prst="rect">
            <a:avLst/>
          </a:prstGeom>
          <a:noFill/>
          <a:ln>
            <a:noFill/>
          </a:ln>
        </p:spPr>
      </p:pic>
      <p:pic>
        <p:nvPicPr>
          <p:cNvPr id="190" name="Google Shape;190;p26"/>
          <p:cNvPicPr preferRelativeResize="0"/>
          <p:nvPr/>
        </p:nvPicPr>
        <p:blipFill>
          <a:blip r:embed="rId4">
            <a:alphaModFix/>
          </a:blip>
          <a:stretch>
            <a:fillRect/>
          </a:stretch>
        </p:blipFill>
        <p:spPr>
          <a:xfrm>
            <a:off x="6088250" y="2262500"/>
            <a:ext cx="2601900" cy="2601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